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71600"/>
            <a:ext cx="3200400" cy="1066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74320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0F172A"/>
                </a:solidFill>
                <a:latin typeface="Segoe UI"/>
              </a:rPr>
              <a:t>A crew desk advisor</a:t>
            </a:r>
          </a:p>
          <a:p>
            <a:pPr algn="ctr">
              <a:lnSpc>
                <a:spcPct val="105000"/>
              </a:lnSpc>
              <a:spcBef>
                <a:spcPts val="1000"/>
              </a:spcBef>
            </a:pPr>
            <a:r>
              <a:rPr sz="4000" b="1">
                <a:solidFill>
                  <a:srgbClr val="0F172A"/>
                </a:solidFill>
                <a:latin typeface="Segoe UI"/>
              </a:rPr>
              <a:t>that never guesses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4315968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The model plans and explains. Deterministic code computes. A guard checks every figure against what the tools returned.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389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4F46E5"/>
                </a:solidFill>
                <a:latin typeface="Segoe UI"/>
              </a:rPr>
              <a:t>extroc-jpkcqxtlma-uc.a.run.app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727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dCortex, Agentic Crew Ops Advisor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46E5"/>
                </a:solidFill>
                <a:latin typeface="Segoe UI"/>
              </a:rP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896112"/>
            <a:ext cx="868680" cy="50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The bottleneck is not detecting that something broke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75104"/>
            <a:ext cx="9509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It is reasoning correctly, and fast, about what follows. A sick call at 05:00 breaks a pairing, strands downstream legs, and every fix creates the next problem.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01752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Fragmented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One answer spans rosters, duty clocks, schedules, reserves, qualifications and the rulebook.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5" y="301752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90287" y="32461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Consequence blind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7" y="365760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The broken flight is obvious. The four that break next are not.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2" y="301752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66174" y="32461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Exact, not approximate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4" y="3657600"/>
            <a:ext cx="2926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34155"/>
                </a:solidFill>
                <a:latin typeface="Segoe UI"/>
              </a:rPr>
              <a:t>Legality is arithmetic against a rulebook. An approximate answer is a violation.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08990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Today that reasoning lives in one experienced controller's head. It degrades exactly when it matters most.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2727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46E5"/>
                </a:solidFill>
                <a:latin typeface="Segoe UI"/>
              </a:rPr>
              <a:t>THE QUESTION ACTUALLY BEING ASKED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896112"/>
            <a:ext cx="868680" cy="50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828800"/>
            <a:ext cx="50800" cy="1417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828800"/>
            <a:ext cx="8778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0F172A"/>
                </a:solidFill>
                <a:latin typeface="Segoe UI"/>
              </a:rPr>
              <a:t>What should the language model do, what should deterministic code do, and how do you compose them into a system that is both conversational and correct?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8620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Put the data in the prompt and let the model answer, and Tier 1 works. Tier 2 and Tier 3 fail. A model that approximates a duty hour calculation produces answers that are fluent, confident and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98348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Segoe UI"/>
              </a:rPr>
              <a:t>Operationally, that is worse than no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2727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46E5"/>
                </a:solidFill>
                <a:latin typeface="Segoe UI"/>
              </a:rPr>
              <a:t>OUR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896112"/>
            <a:ext cx="868680" cy="50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>
                <a:solidFill>
                  <a:srgbClr val="0F172A"/>
                </a:solidFill>
                <a:latin typeface="Segoe UI"/>
              </a:rPr>
              <a:t>The model plans and explains.</a:t>
            </a:r>
          </a:p>
          <a:p>
            <a:pPr algn="l">
              <a:lnSpc>
                <a:spcPct val="106000"/>
              </a:lnSpc>
              <a:spcBef>
                <a:spcPts val="1000"/>
              </a:spcBef>
            </a:pPr>
            <a:r>
              <a:rPr sz="3200" b="1">
                <a:solidFill>
                  <a:srgbClr val="0F172A"/>
                </a:solidFill>
                <a:latin typeface="Segoe UI"/>
              </a:rPr>
              <a:t>It never produces a fact.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788920"/>
            <a:ext cx="51206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32688" y="301752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72384"/>
            <a:ext cx="1691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4F46E5"/>
                </a:solidFill>
                <a:latin typeface="Segoe UI"/>
              </a:rPr>
              <a:t>THE MODEL MAY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520440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Segoe UI"/>
              </a:rPr>
              <a:t>•   </a:t>
            </a:r>
            <a:r>
              <a:rPr sz="1250" b="0">
                <a:solidFill>
                  <a:srgbClr val="334155"/>
                </a:solidFill>
                <a:latin typeface="Segoe UI"/>
              </a:rPr>
              <a:t>Decide which tools to call, with what arguments, in what order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50" b="0">
                <a:solidFill>
                  <a:srgbClr val="334155"/>
                </a:solidFill>
                <a:latin typeface="Segoe UI"/>
              </a:rPr>
              <a:t>•   </a:t>
            </a:r>
            <a:r>
              <a:rPr sz="1250" b="0">
                <a:solidFill>
                  <a:srgbClr val="334155"/>
                </a:solidFill>
                <a:latin typeface="Segoe UI"/>
              </a:rPr>
              <a:t>Decide when it has enough, and when it must decline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50" b="0">
                <a:solidFill>
                  <a:srgbClr val="334155"/>
                </a:solidFill>
                <a:latin typeface="Segoe UI"/>
              </a:rPr>
              <a:t>•   </a:t>
            </a:r>
            <a:r>
              <a:rPr sz="1250" b="0">
                <a:solidFill>
                  <a:srgbClr val="334155"/>
                </a:solidFill>
                <a:latin typeface="Segoe UI"/>
              </a:rPr>
              <a:t>Phrase the result for someone with a radio in one hand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788920"/>
            <a:ext cx="51206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675120" y="301752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072384"/>
            <a:ext cx="1691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766E"/>
                </a:solidFill>
                <a:latin typeface="Segoe UI"/>
              </a:rPr>
              <a:t>ONLY CODE MAY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520440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Segoe UI"/>
              </a:rPr>
              <a:t>•   </a:t>
            </a:r>
            <a:r>
              <a:rPr sz="1250" b="0">
                <a:solidFill>
                  <a:srgbClr val="334155"/>
                </a:solidFill>
                <a:latin typeface="Segoe UI"/>
              </a:rPr>
              <a:t>Compute any number, and show the arithmetic that produced it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50" b="0">
                <a:solidFill>
                  <a:srgbClr val="334155"/>
                </a:solidFill>
                <a:latin typeface="Segoe UI"/>
              </a:rPr>
              <a:t>•   </a:t>
            </a:r>
            <a:r>
              <a:rPr sz="1250" b="0">
                <a:solidFill>
                  <a:srgbClr val="334155"/>
                </a:solidFill>
                <a:latin typeface="Segoe UI"/>
              </a:rPr>
              <a:t>Decide that an assignment is legal or illegal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250" b="0">
                <a:solidFill>
                  <a:srgbClr val="334155"/>
                </a:solidFill>
                <a:latin typeface="Segoe UI"/>
              </a:rPr>
              <a:t>•   </a:t>
            </a:r>
            <a:r>
              <a:rPr sz="1250" b="0">
                <a:solidFill>
                  <a:srgbClr val="334155"/>
                </a:solidFill>
                <a:latin typeface="Segoe UI"/>
              </a:rPr>
              <a:t>Verify the drafted answer before a controller sees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08990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A turn crosses that boundary four times. The next slide is the shape of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2727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46E5"/>
                </a:solidFill>
                <a:latin typeface="Segoe UI"/>
              </a:rPr>
              <a:t>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60120"/>
            <a:ext cx="11430000" cy="58830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5680" y="62727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46E5"/>
                </a:solidFill>
                <a:latin typeface="Segoe UI"/>
              </a:rPr>
              <a:t>WHY IT HOLDS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896112"/>
            <a:ext cx="868680" cy="50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Enforced, not requested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75104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A guarantee written into a prompt is a request. These are the three places the boundary is actually held.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697480"/>
          <a:ext cx="10881360" cy="2093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0"/>
                <a:gridCol w="4206240"/>
              </a:tblGrid>
              <a:tr h="31089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64748B"/>
                          </a:solidFill>
                          <a:latin typeface="Segoe UI"/>
                        </a:rPr>
                        <a:t>MECHANISM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64748B"/>
                          </a:solidFill>
                          <a:latin typeface="Segoe UI"/>
                        </a:rPr>
                        <a:t>WHAT IT STOPS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Segoe UI"/>
                        </a:rPr>
                        <a:t>A build test walks the import graph of domain, rules, ops, store, tools and verify, and fails if a model client is reachable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Arithmetic drifting into the model's half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Segoe UI"/>
                        </a:rPr>
                        <a:t>The verifier rejects any atom in the prose that no tool emitted as a Fact this turn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The model stating a plausible number nobody computed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Segoe UI"/>
                        </a:rPr>
                        <a:t>Graph edges require a legality result before any verdict, and a cover search before any recommendation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  <a:latin typeface="Segoe UI"/>
                        </a:rPr>
                        <a:t>The model inferring a verdict from context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608990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The third matters most. A guarantee written as a graph edge is a guarantee.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2727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46E5"/>
                </a:solidFill>
                <a:latin typeface="Segoe UI"/>
              </a:rPr>
              <a:t>EXPLAINABILITY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896112"/>
            <a:ext cx="868680" cy="50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Every figure carries its own working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5394960" cy="28803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>
              <a:lnSpc>
                <a:spcPct val="125000"/>
              </a:lnSpc>
            </a:pPr>
            <a:r>
              <a:rPr sz="1150">
                <a:solidFill>
                  <a:srgbClr val="E2E8F0"/>
                </a:solidFill>
                <a:latin typeface="Consolas"/>
              </a:rPr>
              <a:t>Fact(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2E8F0"/>
                </a:solidFill>
                <a:latin typeface="Consolas"/>
              </a:rPr>
              <a:t>  key="C-2087.duty_7d.projected",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2E8F0"/>
                </a:solidFill>
                <a:latin typeface="Consolas"/>
              </a:rPr>
              <a:t>  value=61.33,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2E8F0"/>
                </a:solidFill>
                <a:latin typeface="Consolas"/>
              </a:rPr>
              <a:t>  unit="hours",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2E8F0"/>
                </a:solidFill>
                <a:latin typeface="Consolas"/>
              </a:rPr>
              <a:t>  provenance=COMPUTED,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2E8F0"/>
                </a:solidFill>
                <a:latin typeface="Consolas"/>
              </a:rPr>
              <a:t>  source="crewops.rules.duty.window",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2E8F0"/>
                </a:solidFill>
                <a:latin typeface="Consolas"/>
              </a:rPr>
              <a:t>  derivation="51.83h prior + 9.50h from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2E8F0"/>
                </a:solidFill>
                <a:latin typeface="Consolas"/>
              </a:rPr>
              <a:t>    P-2291 = 61.33h against a 60.00h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2E8F0"/>
                </a:solidFill>
                <a:latin typeface="Consolas"/>
              </a:rPr>
              <a:t>    limit, over by 1.33h",</a:t>
            </a:r>
          </a:p>
          <a:p>
            <a:pPr>
              <a:lnSpc>
                <a:spcPct val="125000"/>
              </a:lnSpc>
            </a:pPr>
            <a:r>
              <a:rPr sz="1150">
                <a:solidFill>
                  <a:srgbClr val="E2E8F0"/>
                </a:solidFill>
                <a:latin typeface="Consolas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194560"/>
            <a:ext cx="5029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derivation is the point. </a:t>
            </a:r>
            <a:r>
              <a:rPr sz="1400" b="0">
                <a:solidFill>
                  <a:srgbClr val="334155"/>
                </a:solidFill>
                <a:latin typeface="Segoe UI"/>
              </a:rPr>
              <a:t>A controller about to move a crew member and sign their name to it does not want to be told the answer. They want to check it and argue with it.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400" b="0">
                <a:solidFill>
                  <a:srgbClr val="334155"/>
                </a:solidFill>
                <a:latin typeface="Segoe UI"/>
              </a:rPr>
              <a:t>It is also what makes the verifier possible. If a number can appear in an answer, a tool must have emitted a Fact for it.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400" b="1">
                <a:solidFill>
                  <a:srgbClr val="0F172A"/>
                </a:solidFill>
                <a:latin typeface="Segoe UI"/>
              </a:rPr>
              <a:t>When verification fails, the fix is to add the missing fact to the tool. It is never to relax the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2727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46E5"/>
                </a:solidFill>
                <a:latin typeface="Segoe UI"/>
              </a:rPr>
              <a:t>MEASURED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896112"/>
            <a:ext cx="868680" cy="50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44 cases: 38 shipped questions, 6 worked scenarios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210312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188720"/>
                <a:gridCol w="1280160"/>
                <a:gridCol w="1463040"/>
                <a:gridCol w="109728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64748B"/>
                          </a:solidFill>
                          <a:latin typeface="Segoe UI"/>
                        </a:rPr>
                        <a:t>Tier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64748B"/>
                          </a:solidFill>
                          <a:latin typeface="Segoe UI"/>
                        </a:rPr>
                        <a:t>Cases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64748B"/>
                          </a:solidFill>
                          <a:latin typeface="Segoe UI"/>
                        </a:rPr>
                        <a:t>Correct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64748B"/>
                          </a:solidFill>
                          <a:latin typeface="Segoe UI"/>
                        </a:rPr>
                        <a:t>Abstained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64748B"/>
                          </a:solidFill>
                          <a:latin typeface="Segoe UI"/>
                        </a:rPr>
                        <a:t>Wrong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64748B"/>
                          </a:solidFill>
                          <a:latin typeface="Segoe UI"/>
                        </a:rPr>
                        <a:t>Accuracy when answered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Tier 1, lookup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Tier 2, consequence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Tier 3, recommendation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Overall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44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F172A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>
                    <a:solidFill>
                      <a:srgbClr val="FBFA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43484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F766E"/>
                </a:solidFill>
                <a:latin typeface="Segoe UI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23036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wrong answers, and no verdict inversions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4255" y="443484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F172A"/>
                </a:solidFill>
                <a:latin typeface="Segoe U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5" y="523036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of 44 answers passed grounding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0142" y="443484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F172A"/>
                </a:solidFill>
                <a:latin typeface="Segoe UI"/>
              </a:rPr>
              <a:t>122ms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2" y="523036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p95 on the deterministic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08990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Reproduce with make eval. Deterministic path, which runs with no API key.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2727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46E5"/>
                </a:solidFill>
                <a:latin typeface="Segoe UI"/>
              </a:rPr>
              <a:t>THE DESIGN CHOICE WE WOULD DEFEND HARDEST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896112"/>
            <a:ext cx="868680" cy="50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Abstention is a feature, and it is scored as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0312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The evaluation harness counts abstentions separately from wrong answers and never treats one as a failure. A grader that scored refusal as failure would push the system toward confident guessing, which is the exact failure mode the brief warns about.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337560"/>
            <a:ext cx="51206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932688" y="356616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62102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F766E"/>
                </a:solidFill>
                <a:latin typeface="Segoe UI"/>
              </a:rPr>
              <a:t>CORRECT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06908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34155"/>
                </a:solidFill>
                <a:latin typeface="Segoe UI"/>
              </a:rPr>
              <a:t>"I cannot answer that reliably." Then: what was missing, what was established anyway, and three questions that would work instead.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337560"/>
            <a:ext cx="51206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675120" y="356616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621024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B45309"/>
                </a:solidFill>
                <a:latin typeface="Segoe UI"/>
              </a:rPr>
              <a:t>NEVER ACCEPTABLE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06908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34155"/>
                </a:solidFill>
                <a:latin typeface="Segoe UI"/>
              </a:rPr>
              <a:t>A fluent, confident figure nobody computed. The verifier rejects it rather than trimming it, so it cannot reach the screen.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8990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9 of 44 cases abstained. Every one of them declined honestly rather than guessing.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2727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46E5"/>
                </a:solidFill>
                <a:latin typeface="Segoe UI"/>
              </a:rPr>
              <a:t>BEYOND THE BRIEF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896112"/>
            <a:ext cx="868680" cy="50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Voice is a peripheral, not a second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0312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Speech in becomes a transcript. The transcript goes to the same endpoint, through the same tools, the same seven rules and the same verifier. Speech out reads prose the verifier has already passed.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20040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334155"/>
                </a:solidFill>
                <a:latin typeface="Segoe UI"/>
              </a:rPr>
              <a:t>•   </a:t>
            </a:r>
            <a:r>
              <a:rPr sz="1400" b="0">
                <a:solidFill>
                  <a:srgbClr val="334155"/>
                </a:solidFill>
                <a:latin typeface="Segoe UI"/>
              </a:rPr>
              <a:t>Nothing under agent/voice/ imports a model client. No speech provider ever sees the dataset.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400" b="0">
                <a:solidFill>
                  <a:srgbClr val="334155"/>
                </a:solidFill>
                <a:latin typeface="Segoe UI"/>
              </a:rPr>
              <a:t>•   </a:t>
            </a:r>
            <a:r>
              <a:rPr sz="1400" b="0">
                <a:solidFill>
                  <a:srgbClr val="334155"/>
                </a:solidFill>
                <a:latin typeface="Segoe UI"/>
              </a:rPr>
              <a:t>A draft that fails verification is </a:t>
            </a:r>
            <a:r>
              <a:rPr sz="1400" b="1">
                <a:solidFill>
                  <a:srgbClr val="0F172A"/>
                </a:solidFill>
                <a:latin typeface="Segoe UI"/>
              </a:rPr>
              <a:t>never spoken</a:t>
            </a:r>
            <a:r>
              <a:rPr sz="1400" b="0">
                <a:solidFill>
                  <a:srgbClr val="334155"/>
                </a:solidFill>
                <a:latin typeface="Segoe UI"/>
              </a:rPr>
              <a:t>: the selector returns nothing at all unless the reply is verified or repaired.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400" b="0">
                <a:solidFill>
                  <a:srgbClr val="334155"/>
                </a:solidFill>
                <a:latin typeface="Segoe UI"/>
              </a:rPr>
              <a:t>•   </a:t>
            </a:r>
            <a:r>
              <a:rPr sz="1400" b="0">
                <a:solidFill>
                  <a:srgbClr val="334155"/>
                </a:solidFill>
                <a:latin typeface="Segoe UI"/>
              </a:rPr>
              <a:t>Hands free, it reads the verified headline first and offers the detail, so a controller can keep their hands on the desk.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08990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Also shipped: proactive alerting, multi turn memory, drafted crew notifications, chained disruptions.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2727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46E5"/>
                </a:solidFill>
                <a:latin typeface="Segoe UI"/>
              </a:rPr>
              <a:t>HONEST LIMITS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896112"/>
            <a:ext cx="868680" cy="50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What breaks, and how badly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29968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334155"/>
                </a:solidFill>
                <a:latin typeface="Segoe UI"/>
              </a:rPr>
              <a:t>Every failure is graded safe or unsafe. A safe failure declines. An unsafe failure answers wrongly. We treat the second as a different class of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80360"/>
            <a:ext cx="10424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•   </a:t>
            </a:r>
            <a:r>
              <a:rPr sz="1300" b="1">
                <a:solidFill>
                  <a:srgbClr val="0F172A"/>
                </a:solidFill>
                <a:latin typeface="Segoe UI"/>
              </a:rPr>
              <a:t>Agent mode is not reproducible.</a:t>
            </a:r>
            <a:r>
              <a:rPr sz="1300" b="0">
                <a:solidFill>
                  <a:srgbClr val="334155"/>
                </a:solidFill>
                <a:latin typeface="Segoe UI"/>
              </a:rPr>
              <a:t> Three identical passes scored 16, 15 and 16. We quote a range, never a single number.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Segoe UI"/>
              </a:rPr>
              <a:t>•   </a:t>
            </a:r>
            <a:r>
              <a:rPr sz="1300" b="1">
                <a:solidFill>
                  <a:srgbClr val="0F172A"/>
                </a:solidFill>
                <a:latin typeface="Segoe UI"/>
              </a:rPr>
              <a:t>Nine cases abstain</a:t>
            </a:r>
            <a:r>
              <a:rPr sz="1300" b="0">
                <a:solidFill>
                  <a:srgbClr val="334155"/>
                </a:solidFill>
                <a:latin typeface="Segoe UI"/>
              </a:rPr>
              <a:t> that a stronger router would answer. Each is a routing gap, not a reasoning error.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Segoe UI"/>
              </a:rPr>
              <a:t>•   </a:t>
            </a:r>
            <a:r>
              <a:rPr sz="1300" b="1">
                <a:solidFill>
                  <a:srgbClr val="0F172A"/>
                </a:solidFill>
                <a:latin typeface="Segoe UI"/>
              </a:rPr>
              <a:t>The eighth rule problem.</a:t>
            </a:r>
            <a:r>
              <a:rPr sz="1300" b="0">
                <a:solidFill>
                  <a:srgbClr val="334155"/>
                </a:solidFill>
                <a:latin typeface="Segoe UI"/>
              </a:rPr>
              <a:t> Answer keys exclude candidates for reasons the rulebook does not cover, most importantly double booking. Modelling it as a RULE- id would misrepresent the rulebook, so it is carried as an operational feasibility issue instead: blocking, but honestly labelled.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Segoe UI"/>
              </a:rPr>
              <a:t>•   </a:t>
            </a:r>
            <a:r>
              <a:rPr sz="1300" b="1">
                <a:solidFill>
                  <a:srgbClr val="0F172A"/>
                </a:solidFill>
                <a:latin typeface="Segoe UI"/>
              </a:rPr>
              <a:t>Grounding is per atom, not per claim.</a:t>
            </a:r>
            <a:r>
              <a:rPr sz="1300" b="0">
                <a:solidFill>
                  <a:srgbClr val="334155"/>
                </a:solidFill>
                <a:latin typeface="Segoe UI"/>
              </a:rPr>
              <a:t> It catches an invented figure. It would not catch a correctly quoted figure used in a wrong sentence.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08990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Full analysis, failure by failure, in docs/FAILURE-ANALYSIS.md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2727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46E5"/>
                </a:solidFill>
                <a:latin typeface="Segoe UI"/>
              </a:rPr>
              <a:t>IF THIS WERE REAL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896112"/>
            <a:ext cx="868680" cy="50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" y="21945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697480"/>
            <a:ext cx="2880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4155"/>
                </a:solidFill>
                <a:latin typeface="Segoe UI"/>
              </a:rPr>
              <a:t>The work is the cross referencing, not the decision. Collapsing that from minutes to seconds is the value, and the ranked options make the decision reviewable afterwards.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5" y="19202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08575" y="21945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5" y="2697480"/>
            <a:ext cx="2880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4155"/>
                </a:solidFill>
                <a:latin typeface="Segoe UI"/>
              </a:rPr>
              <a:t>WorldState is loaded once and immutable, with a SQLite projection for lookups. The rules engine is pure arithmetic over typed records, so it scales with crew count, not with prompt size.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2" y="19202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84462" y="21945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Crew PII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2" y="2697480"/>
            <a:ext cx="2880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4155"/>
                </a:solidFill>
                <a:latin typeface="Segoe UI"/>
              </a:rPr>
              <a:t>The model never needs identity. It plans over ids and receives Facts. Names can stay behind the tool boundary and be joined at render time, so PII need never enter a prompt.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08990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Reasoning and arithmetic behind each of these in docs/PRODUCTION.md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2727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0116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F46E5"/>
                </a:solidFill>
                <a:latin typeface="Segoe UI"/>
              </a:rPr>
              <a:t>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42316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0F172A"/>
                </a:solidFill>
                <a:latin typeface="Segoe UI"/>
              </a:rPr>
              <a:t>Ask it something it cannot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329184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>
                <a:solidFill>
                  <a:srgbClr val="334155"/>
                </a:solidFill>
                <a:latin typeface="Segoe UI"/>
              </a:rPr>
              <a:t>That is the demo we would run first. A system that says "I cannot answer that reliably, and here is what was missing" is the one worth having at 06:00 on a bad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5262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F46E5"/>
                </a:solidFill>
                <a:latin typeface="Segoe UI"/>
              </a:rPr>
              <a:t>extroc-jpkcqxtlma-uc.a.run.app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983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Runs with no API key. The deterministic path answers through the same tools, rules and verifier.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2727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